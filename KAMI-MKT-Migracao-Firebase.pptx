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C8192B"/>
          </a:solidFill>
          <a:ln w="12700">
            <a:solidFill>
              <a:srgbClr val="C819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36576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36576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926080" y="36576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023360" y="36576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120640" y="36576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0" y="36576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0" y="36576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12480" y="36576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137160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28800" y="137160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26080" y="137160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023360" y="137160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137160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137160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0" y="137160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412480" y="137160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" y="237744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828800" y="237744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926080" y="237744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023360" y="237744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120640" y="237744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17920" y="237744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15200" y="237744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412480" y="237744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1520" y="338328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828800" y="338328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926080" y="338328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023360" y="338328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120640" y="338328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217920" y="338328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315200" y="338328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412480" y="338328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31520" y="43891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828800" y="43891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926080" y="43891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023360" y="43891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120640" y="43891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217920" y="43891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315200" y="43891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412480" y="43891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132320" y="1097280"/>
            <a:ext cx="1463040" cy="1463040"/>
          </a:xfrm>
          <a:prstGeom prst="ellipse">
            <a:avLst/>
          </a:prstGeom>
          <a:solidFill>
            <a:srgbClr val="C8192B">
              <a:alpha val="20000"/>
            </a:srgbClr>
          </a:solidFill>
          <a:ln w="12700">
            <a:solidFill>
              <a:srgbClr val="C8192B">
                <a:alpha val="40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132320" y="1143000"/>
            <a:ext cx="1463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🔥</a:t>
            </a:r>
            <a:endParaRPr lang="en-US" sz="5200" dirty="0"/>
          </a:p>
        </p:txBody>
      </p:sp>
      <p:sp>
        <p:nvSpPr>
          <p:cNvPr id="45" name="Text 43"/>
          <p:cNvSpPr/>
          <p:nvPr/>
        </p:nvSpPr>
        <p:spPr>
          <a:xfrm>
            <a:off x="548640" y="91440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C81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 MKT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Migração para Firebase</a:t>
            </a:r>
            <a:endParaRPr lang="en-US" sz="4000" dirty="0"/>
          </a:p>
        </p:txBody>
      </p:sp>
      <p:sp>
        <p:nvSpPr>
          <p:cNvPr id="47" name="Text 45"/>
          <p:cNvSpPr/>
          <p:nvPr/>
        </p:nvSpPr>
        <p:spPr>
          <a:xfrm>
            <a:off x="548640" y="26517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implementação — Sistema interno de marketing</a:t>
            </a:r>
            <a:endParaRPr lang="en-US" sz="1500" dirty="0"/>
          </a:p>
        </p:txBody>
      </p:sp>
      <p:sp>
        <p:nvSpPr>
          <p:cNvPr id="48" name="Shape 46"/>
          <p:cNvSpPr/>
          <p:nvPr/>
        </p:nvSpPr>
        <p:spPr>
          <a:xfrm>
            <a:off x="548640" y="3246120"/>
            <a:ext cx="2286000" cy="36576"/>
          </a:xfrm>
          <a:prstGeom prst="rect">
            <a:avLst/>
          </a:prstGeom>
          <a:solidFill>
            <a:srgbClr val="C8192B"/>
          </a:solidFill>
          <a:ln w="12700">
            <a:solidFill>
              <a:srgbClr val="C8192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4864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 CO.  |  Tecnologia da Informação  |  Confidencial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C8192B"/>
          </a:solidFill>
          <a:ln w="12700">
            <a:solidFill>
              <a:srgbClr val="C81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migrar agora?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686800" y="45720"/>
            <a:ext cx="411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81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960120"/>
            <a:ext cx="40233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960120"/>
            <a:ext cx="54864" cy="1691640"/>
          </a:xfrm>
          <a:prstGeom prst="rect">
            <a:avLst/>
          </a:prstGeom>
          <a:solidFill>
            <a:srgbClr val="C8192B"/>
          </a:solidFill>
          <a:ln w="12700">
            <a:solidFill>
              <a:srgbClr val="C81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1430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💾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325880" y="106984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críticos sem backup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25880" y="1527048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Clientes, usuários e senhas vivem apenas no navegador. Uma limpeza de cache apaga tudo.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46320" y="960120"/>
            <a:ext cx="40233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46320" y="960120"/>
            <a:ext cx="54864" cy="1691640"/>
          </a:xfrm>
          <a:prstGeom prst="rect">
            <a:avLst/>
          </a:prstGeom>
          <a:solidFill>
            <a:srgbClr val="C8192B"/>
          </a:solidFill>
          <a:ln w="12700">
            <a:solidFill>
              <a:srgbClr val="C819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83480" y="11430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🔒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669280" y="106984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Autenticação fraca (DJB2)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669280" y="1527048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próprio código avisa: "não usar em produção". Precisa ser substituído por bcrypt.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2880360"/>
            <a:ext cx="40233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02920" y="2880360"/>
            <a:ext cx="54864" cy="1691640"/>
          </a:xfrm>
          <a:prstGeom prst="rect">
            <a:avLst/>
          </a:prstGeom>
          <a:solidFill>
            <a:srgbClr val="C8192B"/>
          </a:solidFill>
          <a:ln w="12700">
            <a:solidFill>
              <a:srgbClr val="C819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0632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💻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325880" y="299008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acesso multi-dispositivo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325880" y="3447288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computador tem seu próprio banco local. Sem sincronização entre usuários.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46320" y="2880360"/>
            <a:ext cx="40233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46320" y="2880360"/>
            <a:ext cx="54864" cy="1691640"/>
          </a:xfrm>
          <a:prstGeom prst="rect">
            <a:avLst/>
          </a:prstGeom>
          <a:solidFill>
            <a:srgbClr val="C8192B"/>
          </a:solidFill>
          <a:ln w="12700">
            <a:solidFill>
              <a:srgbClr val="C819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83480" y="30632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✅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5669280" y="299008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já preparado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669280" y="3447288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Funções fbGet/fbSet existem no código. Firebase está previsto — só precisa ser ativado.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292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 CO.  |  Confidencial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C8192B"/>
          </a:solidFill>
          <a:ln w="12700">
            <a:solidFill>
              <a:srgbClr val="C81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Firebase entrega de graça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686800" y="45720"/>
            <a:ext cx="411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81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914400"/>
          <a:ext cx="8321040" cy="3840480"/>
        </p:xfrm>
        <a:graphic>
          <a:graphicData uri="http://schemas.openxmlformats.org/drawingml/2006/table">
            <a:tbl>
              <a:tblPr/>
              <a:tblGrid>
                <a:gridCol w="3840480"/>
                <a:gridCol w="448056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Problema atual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9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Solução Firebase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92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Senha com hash fraco (DJB2)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Firebase Auth — bcrypt nativo, sem código extra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 JWT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 SDK gera e renova tokens automaticamente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 reset de senha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sendPasswordResetEmail() — 1 linha de código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Dados só no browser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Firestore — banco em nuvem com sincronização em tempo real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 backup automático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Firestore — replicação automática pela infraestrutura Google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 multi-dispositivo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Dados sincronizados entre todos os acessos e usuários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key da Anthropic exposta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Variável de ambiente no Firebase Functions — nunca no cliente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C8192B"/>
          </a:solidFill>
          <a:ln w="12700">
            <a:solidFill>
              <a:srgbClr val="C81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alvo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686800" y="182880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81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097280"/>
            <a:ext cx="2011680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3385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Browser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1463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/ JS Vanilla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(sem refatoração de UI)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834640" y="822960"/>
            <a:ext cx="2011680" cy="822960"/>
          </a:xfrm>
          <a:prstGeom prst="rect">
            <a:avLst/>
          </a:prstGeom>
          <a:solidFill>
            <a:srgbClr val="C8192B"/>
          </a:solidFill>
          <a:ln w="12700">
            <a:solidFill>
              <a:srgbClr val="C8192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926080" y="85953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Firebase Auth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926080" y="11887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automático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nativo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834640" y="2194560"/>
            <a:ext cx="2011680" cy="82296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926080" y="223113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Firestore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926080" y="25603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em nuvem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 automática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834640" y="3566160"/>
            <a:ext cx="2011680" cy="82296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926080" y="360273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Functions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926080" y="39319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API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variáveis seguras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400800" y="1097280"/>
            <a:ext cx="201168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92240" y="113385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Security Rules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92240" y="1463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· USER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READ_ONLY roles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514600" y="1508760"/>
            <a:ext cx="320040" cy="-274320"/>
          </a:xfrm>
          <a:prstGeom prst="line">
            <a:avLst/>
          </a:prstGeom>
          <a:noFill/>
          <a:ln w="12700">
            <a:solidFill>
              <a:srgbClr val="475569"/>
            </a:solidFill>
            <a:prstDash val="dash"/>
            <a:tailEnd type="open"/>
          </a:ln>
        </p:spPr>
      </p:sp>
      <p:sp>
        <p:nvSpPr>
          <p:cNvPr id="21" name="Shape 19"/>
          <p:cNvSpPr/>
          <p:nvPr/>
        </p:nvSpPr>
        <p:spPr>
          <a:xfrm>
            <a:off x="2514600" y="1508760"/>
            <a:ext cx="320040" cy="1097280"/>
          </a:xfrm>
          <a:prstGeom prst="line">
            <a:avLst/>
          </a:prstGeom>
          <a:noFill/>
          <a:ln w="12700">
            <a:solidFill>
              <a:srgbClr val="475569"/>
            </a:solidFill>
            <a:prstDash val="dash"/>
            <a:tailEnd type="open"/>
          </a:ln>
        </p:spPr>
      </p:sp>
      <p:sp>
        <p:nvSpPr>
          <p:cNvPr id="22" name="Shape 20"/>
          <p:cNvSpPr/>
          <p:nvPr/>
        </p:nvSpPr>
        <p:spPr>
          <a:xfrm>
            <a:off x="2514600" y="1508760"/>
            <a:ext cx="320040" cy="2468880"/>
          </a:xfrm>
          <a:prstGeom prst="line">
            <a:avLst/>
          </a:prstGeom>
          <a:noFill/>
          <a:ln w="12700">
            <a:solidFill>
              <a:srgbClr val="475569"/>
            </a:solidFill>
            <a:prstDash val="dash"/>
            <a:tailEnd type="open"/>
          </a:ln>
        </p:spPr>
      </p:sp>
      <p:sp>
        <p:nvSpPr>
          <p:cNvPr id="23" name="Shape 21"/>
          <p:cNvSpPr/>
          <p:nvPr/>
        </p:nvSpPr>
        <p:spPr>
          <a:xfrm>
            <a:off x="4846320" y="1234440"/>
            <a:ext cx="1554480" cy="274320"/>
          </a:xfrm>
          <a:prstGeom prst="line">
            <a:avLst/>
          </a:prstGeom>
          <a:noFill/>
          <a:ln w="12700">
            <a:solidFill>
              <a:srgbClr val="475569"/>
            </a:solidFill>
            <a:prstDash val="dash"/>
            <a:tailEnd type="open"/>
          </a:ln>
        </p:spPr>
      </p:sp>
      <p:sp>
        <p:nvSpPr>
          <p:cNvPr id="24" name="Shape 22"/>
          <p:cNvSpPr/>
          <p:nvPr/>
        </p:nvSpPr>
        <p:spPr>
          <a:xfrm>
            <a:off x="4846320" y="2606040"/>
            <a:ext cx="1554480" cy="-1005840"/>
          </a:xfrm>
          <a:prstGeom prst="line">
            <a:avLst/>
          </a:prstGeom>
          <a:noFill/>
          <a:ln w="12700">
            <a:solidFill>
              <a:srgbClr val="475569"/>
            </a:solidFill>
            <a:prstDash val="dash"/>
            <a:tailEnd type="open"/>
          </a:ln>
        </p:spPr>
      </p:sp>
      <p:sp>
        <p:nvSpPr>
          <p:cNvPr id="25" name="Text 23"/>
          <p:cNvSpPr/>
          <p:nvPr/>
        </p:nvSpPr>
        <p:spPr>
          <a:xfrm>
            <a:off x="50292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 CO.  |  Confidencial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C8192B"/>
          </a:solidFill>
          <a:ln w="12700">
            <a:solidFill>
              <a:srgbClr val="C81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do banco — Firestore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686800" y="45720"/>
            <a:ext cx="411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81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1005840"/>
            <a:ext cx="36576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C8192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04241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1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/users/{uid}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28016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Perfis, roles e permissões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02920" y="1664208"/>
            <a:ext cx="36576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0369A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1700784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/workspaces/{wsId}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1938528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Metadados e configurações do workspace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389120" y="9601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Sub-collections por workspace: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389120" y="1261872"/>
            <a:ext cx="54864" cy="347472"/>
          </a:xfrm>
          <a:prstGeom prst="rect">
            <a:avLst/>
          </a:prstGeom>
          <a:solidFill>
            <a:srgbClr val="C8192B"/>
          </a:solidFill>
          <a:ln w="12700">
            <a:solidFill>
              <a:srgbClr val="C819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43984" y="1261872"/>
            <a:ext cx="43434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35424" y="1280160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1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/cards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0" y="1280160"/>
            <a:ext cx="2331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conteúdo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389120" y="1755648"/>
            <a:ext cx="54864" cy="347472"/>
          </a:xfrm>
          <a:prstGeom prst="rect">
            <a:avLst/>
          </a:prstGeom>
          <a:solidFill>
            <a:srgbClr val="C8192B"/>
          </a:solidFill>
          <a:ln w="12700">
            <a:solidFill>
              <a:srgbClr val="C819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43984" y="1755648"/>
            <a:ext cx="43434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35424" y="1773936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1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/requests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0" y="1773936"/>
            <a:ext cx="2331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Solicitações e pedidos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389120" y="2249424"/>
            <a:ext cx="54864" cy="347472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43984" y="2249424"/>
            <a:ext cx="43434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35424" y="2267712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/customers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0" y="2267712"/>
            <a:ext cx="2331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— clientes, NPS, CSAT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389120" y="2743200"/>
            <a:ext cx="54864" cy="347472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443984" y="2743200"/>
            <a:ext cx="43434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35424" y="2761488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/social_posts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00800" y="2761488"/>
            <a:ext cx="2331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Agendamentos de redes sociais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389120" y="3236976"/>
            <a:ext cx="54864" cy="347472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443984" y="3236976"/>
            <a:ext cx="43434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35424" y="3255264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/assets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400800" y="3255264"/>
            <a:ext cx="2331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Biblioteca de arquivos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389120" y="3730752"/>
            <a:ext cx="54864" cy="347472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443984" y="3730752"/>
            <a:ext cx="43434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35424" y="3749040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/news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400800" y="3749040"/>
            <a:ext cx="2331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Comunicados internos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389120" y="4224528"/>
            <a:ext cx="54864" cy="347472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443984" y="4224528"/>
            <a:ext cx="43434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35424" y="4242816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/portals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400800" y="4242816"/>
            <a:ext cx="2331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corporativo e distribuidores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0292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 CO.  |  Confidencial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C8192B"/>
          </a:solidFill>
          <a:ln w="12700">
            <a:solidFill>
              <a:srgbClr val="C81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em 3 fases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686800" y="45720"/>
            <a:ext cx="411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81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868680"/>
            <a:ext cx="269748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868680"/>
            <a:ext cx="2697480" cy="822960"/>
          </a:xfrm>
          <a:prstGeom prst="rect">
            <a:avLst/>
          </a:prstGeom>
          <a:solidFill>
            <a:srgbClr val="C8192B"/>
          </a:solidFill>
          <a:ln w="12700">
            <a:solidFill>
              <a:srgbClr val="C81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" y="896112"/>
            <a:ext cx="548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188720" y="90525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Autenticação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88720" y="12527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EC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1–2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67512" y="1947672"/>
            <a:ext cx="164592" cy="164592"/>
          </a:xfrm>
          <a:prstGeom prst="ellipse">
            <a:avLst/>
          </a:prstGeom>
          <a:solidFill>
            <a:srgbClr val="C8192B"/>
          </a:solidFill>
          <a:ln w="12700">
            <a:solidFill>
              <a:srgbClr val="C819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05256" y="1874520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projeto Firebase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67512" y="2514600"/>
            <a:ext cx="164592" cy="164592"/>
          </a:xfrm>
          <a:prstGeom prst="ellipse">
            <a:avLst/>
          </a:prstGeom>
          <a:solidFill>
            <a:srgbClr val="C8192B"/>
          </a:solidFill>
          <a:ln w="12700">
            <a:solidFill>
              <a:srgbClr val="C819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5256" y="2441448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Ativar Firebase Authentication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67512" y="3081528"/>
            <a:ext cx="164592" cy="164592"/>
          </a:xfrm>
          <a:prstGeom prst="ellipse">
            <a:avLst/>
          </a:prstGeom>
          <a:solidFill>
            <a:srgbClr val="C8192B"/>
          </a:solidFill>
          <a:ln w="12700">
            <a:solidFill>
              <a:srgbClr val="C819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5256" y="3008376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Substituir login/hashPwd pelo Auth SDK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67512" y="3648456"/>
            <a:ext cx="164592" cy="164592"/>
          </a:xfrm>
          <a:prstGeom prst="ellipse">
            <a:avLst/>
          </a:prstGeom>
          <a:solidFill>
            <a:srgbClr val="C8192B"/>
          </a:solidFill>
          <a:ln w="12700">
            <a:solidFill>
              <a:srgbClr val="C819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5256" y="3575304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Migrar usuários com senha temporária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67512" y="4215384"/>
            <a:ext cx="164592" cy="164592"/>
          </a:xfrm>
          <a:prstGeom prst="ellipse">
            <a:avLst/>
          </a:prstGeom>
          <a:solidFill>
            <a:srgbClr val="C8192B"/>
          </a:solidFill>
          <a:ln w="12700">
            <a:solidFill>
              <a:srgbClr val="C819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5256" y="4142232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Testar login, logout, reset de senha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383280" y="868680"/>
            <a:ext cx="269748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383280" y="868680"/>
            <a:ext cx="2697480" cy="82296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93008" y="896112"/>
            <a:ext cx="548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4069080" y="90525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dados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069080" y="12527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EC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3–4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547872" y="1947672"/>
            <a:ext cx="164592" cy="164592"/>
          </a:xfrm>
          <a:prstGeom prst="ellipse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85616" y="1874520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Modelar collections no Firestore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547872" y="2514600"/>
            <a:ext cx="164592" cy="164592"/>
          </a:xfrm>
          <a:prstGeom prst="ellipse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85616" y="2441448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Escrever script localStorage → Firestore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547872" y="3081528"/>
            <a:ext cx="164592" cy="164592"/>
          </a:xfrm>
          <a:prstGeom prst="ellipse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85616" y="3008376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Substituir save/load por Firestore SDK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547872" y="3648456"/>
            <a:ext cx="164592" cy="164592"/>
          </a:xfrm>
          <a:prstGeom prst="ellipse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785616" y="3575304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 regras de segurança por role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547872" y="4215384"/>
            <a:ext cx="164592" cy="164592"/>
          </a:xfrm>
          <a:prstGeom prst="ellipse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785616" y="4142232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Testar sincronização em tempo real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263640" y="868680"/>
            <a:ext cx="269748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263640" y="868680"/>
            <a:ext cx="2697480" cy="82296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73368" y="896112"/>
            <a:ext cx="548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39" name="Text 37"/>
          <p:cNvSpPr/>
          <p:nvPr/>
        </p:nvSpPr>
        <p:spPr>
          <a:xfrm>
            <a:off x="6949440" y="90525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Hardening &amp; Deploy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949440" y="12527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EC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5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428232" y="1947672"/>
            <a:ext cx="164592" cy="164592"/>
          </a:xfrm>
          <a:prstGeom prst="ellipse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665976" y="1874520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Mover Claude AI para Firebase Functions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428232" y="2514600"/>
            <a:ext cx="164592" cy="164592"/>
          </a:xfrm>
          <a:prstGeom prst="ellipse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65976" y="2441448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Hosting — HTTPS automático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428232" y="3081528"/>
            <a:ext cx="164592" cy="164592"/>
          </a:xfrm>
          <a:prstGeom prst="ellipse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665976" y="3008376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Habilitar backups automáticos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428232" y="3648456"/>
            <a:ext cx="164592" cy="164592"/>
          </a:xfrm>
          <a:prstGeom prst="ellipse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665976" y="3575304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 CORS e rate limiting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428232" y="4215384"/>
            <a:ext cx="164592" cy="164592"/>
          </a:xfrm>
          <a:prstGeom prst="ellipse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665976" y="4142232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finais e rollout para usuários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50292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 CO.  |  Confidencial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C8192B"/>
          </a:solidFill>
          <a:ln w="12700">
            <a:solidFill>
              <a:srgbClr val="C81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acesso — Firestore Rules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686800" y="182880"/>
            <a:ext cx="411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81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960120"/>
            <a:ext cx="5303520" cy="384048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097280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rules_version = '2';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85800" y="1335024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 cloud.firestore {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" y="1572768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match /databases/{db}/documents {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5800" y="1810512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match /users/{uid} {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85800" y="2048256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allow read, write: if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85800" y="2286000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request.auth.uid == uid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85800" y="2523744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|| isAdmin();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85800" y="2761488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85800" y="2999232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match /workspaces/{wsId}/.../{docId} {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85800" y="3236976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allow read: if hasAccess(wsId);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85800" y="3474720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allow write: if hasAccess(wsId)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85800" y="3712464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&amp;&amp; !isReadOnly();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85800" y="3950208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85800" y="4187952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85800" y="4425696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035040" y="9601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mapeados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035040" y="1371600"/>
            <a:ext cx="2834640" cy="1005840"/>
          </a:xfrm>
          <a:prstGeom prst="rect">
            <a:avLst/>
          </a:prstGeom>
          <a:solidFill>
            <a:srgbClr val="1A0505"/>
          </a:solidFill>
          <a:ln w="12700">
            <a:solidFill>
              <a:srgbClr val="C8192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035040" y="1371600"/>
            <a:ext cx="54864" cy="1005840"/>
          </a:xfrm>
          <a:prstGeom prst="rect">
            <a:avLst/>
          </a:prstGeom>
          <a:solidFill>
            <a:srgbClr val="C8192B"/>
          </a:solidFill>
          <a:ln w="12700">
            <a:solidFill>
              <a:srgbClr val="C8192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81344" y="1463040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181344" y="1755648"/>
            <a:ext cx="2596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e escrita em todos os workspaces e usuários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035040" y="2542032"/>
            <a:ext cx="2834640" cy="1005840"/>
          </a:xfrm>
          <a:prstGeom prst="rect">
            <a:avLst/>
          </a:prstGeom>
          <a:solidFill>
            <a:srgbClr val="030E1A"/>
          </a:solidFill>
          <a:ln w="12700">
            <a:solidFill>
              <a:srgbClr val="0369A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35040" y="2542032"/>
            <a:ext cx="54864" cy="100584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81344" y="2633472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181344" y="2926080"/>
            <a:ext cx="2596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e escrita no próprio workspace. Sem acesso a outros.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35040" y="3712464"/>
            <a:ext cx="2834640" cy="1005840"/>
          </a:xfrm>
          <a:prstGeom prst="rect">
            <a:avLst/>
          </a:prstGeom>
          <a:solidFill>
            <a:srgbClr val="030E0A"/>
          </a:solidFill>
          <a:ln w="12700">
            <a:solidFill>
              <a:srgbClr val="065F4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35040" y="3712464"/>
            <a:ext cx="54864" cy="100584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81344" y="3803904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READ_ONLY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181344" y="4096512"/>
            <a:ext cx="2596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Somente leitura. Não pode criar, editar ou excluir nenhum dado.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0292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 CO.  |  Confidencial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C8192B"/>
          </a:solidFill>
          <a:ln w="12700">
            <a:solidFill>
              <a:srgbClr val="C81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Esforço e custo estimados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686800" y="45720"/>
            <a:ext cx="411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81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914400"/>
            <a:ext cx="39319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914400"/>
            <a:ext cx="393192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9144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Esforço de desenvolvimento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16002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— Autenticação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46120" y="160020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81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8–10 dias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85800" y="1892808"/>
            <a:ext cx="3566160" cy="1828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1892808"/>
            <a:ext cx="2852928" cy="182880"/>
          </a:xfrm>
          <a:prstGeom prst="rect">
            <a:avLst/>
          </a:prstGeom>
          <a:solidFill>
            <a:srgbClr val="C8192B"/>
          </a:solidFill>
          <a:ln w="12700">
            <a:solidFill>
              <a:srgbClr val="C819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4231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— Firestore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46120" y="242316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81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10–12 dias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5800" y="2715768"/>
            <a:ext cx="3566160" cy="1828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2715768"/>
            <a:ext cx="3566160" cy="182880"/>
          </a:xfrm>
          <a:prstGeom prst="rect">
            <a:avLst/>
          </a:prstGeom>
          <a:solidFill>
            <a:srgbClr val="C8192B"/>
          </a:solidFill>
          <a:ln w="12700">
            <a:solidFill>
              <a:srgbClr val="C819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2461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— Hardening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46120" y="32461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81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4–5 dias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85800" y="3538728"/>
            <a:ext cx="3566160" cy="1828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" y="3538728"/>
            <a:ext cx="1426464" cy="182880"/>
          </a:xfrm>
          <a:prstGeom prst="rect">
            <a:avLst/>
          </a:prstGeom>
          <a:solidFill>
            <a:srgbClr val="C8192B"/>
          </a:solidFill>
          <a:ln w="12700">
            <a:solidFill>
              <a:srgbClr val="C819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5800" y="4069080"/>
            <a:ext cx="3566160" cy="548640"/>
          </a:xfrm>
          <a:prstGeom prst="rect">
            <a:avLst/>
          </a:prstGeom>
          <a:solidFill>
            <a:srgbClr val="FEF2F2"/>
          </a:solidFill>
          <a:ln w="12700">
            <a:solidFill>
              <a:srgbClr val="C819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409651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estimado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22960" y="42976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1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 semanas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709160" y="914400"/>
            <a:ext cx="41148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914400"/>
            <a:ext cx="4114800" cy="502920"/>
          </a:xfrm>
          <a:prstGeom prst="rect">
            <a:avLst/>
          </a:prstGeom>
          <a:solidFill>
            <a:srgbClr val="052E16"/>
          </a:solidFill>
          <a:ln w="12700">
            <a:solidFill>
              <a:srgbClr val="052E1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91440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Custo Firebase (Plano Spark)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00600" y="1600200"/>
            <a:ext cx="3840480" cy="530352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0" y="163677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937760" y="187452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10.000 verificações/mês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7406640" y="172821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Grátis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800600" y="2258568"/>
            <a:ext cx="3840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37760" y="229514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Firestore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937760" y="253288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GB + 50k leituras/dia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7406640" y="238658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Grátis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800600" y="2916936"/>
            <a:ext cx="3840480" cy="530352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37760" y="295351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937760" y="319125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GB/mês + CDN global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7406640" y="3044952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Grátis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800600" y="3575304"/>
            <a:ext cx="3840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37760" y="361188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(tier 1)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937760" y="384962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2M invocações/mês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7406640" y="370332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Grátis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800600" y="4251960"/>
            <a:ext cx="3840480" cy="45720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37760" y="4270248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total para o porte atual do sistema: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315200" y="4270248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R$ 0/mês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50292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 CO.  |  Confidencial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C8192B"/>
          </a:solidFill>
          <a:ln w="12700">
            <a:solidFill>
              <a:srgbClr val="C81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Riscos e como mitigar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686800" y="45720"/>
            <a:ext cx="411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81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914400"/>
            <a:ext cx="8321040" cy="694944"/>
          </a:xfrm>
          <a:prstGeom prst="rect">
            <a:avLst/>
          </a:prstGeom>
          <a:solidFill>
            <a:srgbClr val="FEF2F2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914400"/>
            <a:ext cx="822960" cy="694944"/>
          </a:xfrm>
          <a:prstGeom prst="rect">
            <a:avLst/>
          </a:prstGeom>
          <a:solidFill>
            <a:srgbClr val="C8192B"/>
          </a:solidFill>
          <a:ln w="12700">
            <a:solidFill>
              <a:srgbClr val="C81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914400"/>
            <a:ext cx="822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463040" y="96926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Perda de dados na migração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463040" y="1261872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81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Mitigação: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617720" y="100584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com dry-run + exportação completa para JSON antes de iniciar qualquer migração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26280" y="1005840"/>
            <a:ext cx="0" cy="512064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00584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com dry-run + exportação completa para JSON antes de iniciar qualquer migração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02920" y="1719072"/>
            <a:ext cx="8321040" cy="694944"/>
          </a:xfrm>
          <a:prstGeom prst="rect">
            <a:avLst/>
          </a:prstGeom>
          <a:solidFill>
            <a:srgbClr val="FFFBE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02920" y="1719072"/>
            <a:ext cx="822960" cy="69494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1719072"/>
            <a:ext cx="822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MÉDIO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463040" y="177393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Downtime durante a transição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463040" y="2066544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Mitigação: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617720" y="1810512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híbrido: manter localStorage + Firestore em paralelo por 2 semanas antes do corte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26280" y="1810512"/>
            <a:ext cx="0" cy="512064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181051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híbrido: manter localStorage + Firestore em paralelo por 2 semanas antes do corte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02920" y="2523744"/>
            <a:ext cx="8321040" cy="694944"/>
          </a:xfrm>
          <a:prstGeom prst="rect">
            <a:avLst/>
          </a:prstGeom>
          <a:solidFill>
            <a:srgbClr val="FFFBE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02920" y="2523744"/>
            <a:ext cx="822960" cy="69494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2523744"/>
            <a:ext cx="822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MÉDIO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463040" y="257860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Usuários com senha DJB2 legada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463040" y="2871216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Mitigação: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617720" y="2615184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primeiro login pós-migração, forçar reset de senha via Firebase Auth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526280" y="2615184"/>
            <a:ext cx="0" cy="512064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2615184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primeiro login pós-migração, forçar reset de senha via Firebase Auth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02920" y="3328416"/>
            <a:ext cx="8321040" cy="694944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02920" y="3328416"/>
            <a:ext cx="822960" cy="69494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3328416"/>
            <a:ext cx="822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BAIXO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463040" y="33832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Custo inesperado no Firebase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463040" y="3675888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Mitigação: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617720" y="3419856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 alertas de budget no Console + limite de gastos de R$ 50/mês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526280" y="3419856"/>
            <a:ext cx="0" cy="512064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63440" y="3419856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 alertas de budget no Console + limite de gastos de R$ 50/mês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02920" y="4133088"/>
            <a:ext cx="8321040" cy="694944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02920" y="4133088"/>
            <a:ext cx="822960" cy="69494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" y="4133088"/>
            <a:ext cx="822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BAIXO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1463040" y="41879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Dependência de provedor externo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463040" y="448056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Mitigação: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617720" y="4224528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Exportação periódica via Admin SDK para backup local. Dados nunca ficam presos no Firebase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526280" y="4224528"/>
            <a:ext cx="0" cy="512064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663440" y="4224528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Exportação periódica via Admin SDK para backup local. Dados nunca ficam presos no Firebase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50292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 CO.  |  Confidencial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C8192B"/>
          </a:solidFill>
          <a:ln w="12700">
            <a:solidFill>
              <a:srgbClr val="C81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passos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686800" y="182880"/>
            <a:ext cx="411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81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49808" y="1399032"/>
            <a:ext cx="0" cy="228600"/>
          </a:xfrm>
          <a:prstGeom prst="line">
            <a:avLst/>
          </a:prstGeom>
          <a:noFill/>
          <a:ln w="12700">
            <a:solidFill>
              <a:srgbClr val="334155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548640" y="960120"/>
            <a:ext cx="402336" cy="402336"/>
          </a:xfrm>
          <a:prstGeom prst="ellipse">
            <a:avLst/>
          </a:prstGeom>
          <a:solidFill>
            <a:srgbClr val="C8192B"/>
          </a:solidFill>
          <a:ln w="12700">
            <a:solidFill>
              <a:srgbClr val="C81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9601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98755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Aprovação do plano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583680" y="978408"/>
            <a:ext cx="100584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9784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7726680" y="978408"/>
            <a:ext cx="1097280" cy="256032"/>
          </a:xfrm>
          <a:prstGeom prst="rect">
            <a:avLst/>
          </a:prstGeom>
          <a:solidFill>
            <a:srgbClr val="C8192B">
              <a:alpha val="20000"/>
            </a:srgbClr>
          </a:solidFill>
          <a:ln w="12700">
            <a:solidFill>
              <a:srgbClr val="C819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26680" y="9784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81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Imediato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749808" y="2066544"/>
            <a:ext cx="0" cy="228600"/>
          </a:xfrm>
          <a:prstGeom prst="line">
            <a:avLst/>
          </a:prstGeom>
          <a:noFill/>
          <a:ln w="12700">
            <a:solidFill>
              <a:srgbClr val="334155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548640" y="1627632"/>
            <a:ext cx="402336" cy="402336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16276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97280" y="1655064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projeto Firebase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583680" y="1645920"/>
            <a:ext cx="100584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0" y="164592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7726680" y="1645920"/>
            <a:ext cx="1097280" cy="256032"/>
          </a:xfrm>
          <a:prstGeom prst="rect">
            <a:avLst/>
          </a:prstGeom>
          <a:solidFill>
            <a:srgbClr val="C2410C">
              <a:alpha val="20000"/>
            </a:srgbClr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26680" y="16459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1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749808" y="2734056"/>
            <a:ext cx="0" cy="228600"/>
          </a:xfrm>
          <a:prstGeom prst="line">
            <a:avLst/>
          </a:prstGeom>
          <a:noFill/>
          <a:ln w="12700">
            <a:solidFill>
              <a:srgbClr val="334155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548640" y="2295144"/>
            <a:ext cx="402336" cy="40233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22951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97280" y="2322576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Firebase Auth — login, reset de senha, JWT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583680" y="2313432"/>
            <a:ext cx="100584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0" y="231343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7726680" y="2313432"/>
            <a:ext cx="1097280" cy="256032"/>
          </a:xfrm>
          <a:prstGeom prst="rect">
            <a:avLst/>
          </a:prstGeom>
          <a:solidFill>
            <a:srgbClr val="D97706">
              <a:alpha val="20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26680" y="231343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1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749808" y="3401568"/>
            <a:ext cx="0" cy="228600"/>
          </a:xfrm>
          <a:prstGeom prst="line">
            <a:avLst/>
          </a:prstGeom>
          <a:noFill/>
          <a:ln w="12700">
            <a:solidFill>
              <a:srgbClr val="334155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548640" y="2962656"/>
            <a:ext cx="402336" cy="402336"/>
          </a:xfrm>
          <a:prstGeom prst="ellipse">
            <a:avLst/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29626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97280" y="299008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de migração de usuários e dados críticos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583680" y="2980944"/>
            <a:ext cx="100584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83680" y="298094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7726680" y="2980944"/>
            <a:ext cx="1097280" cy="256032"/>
          </a:xfrm>
          <a:prstGeom prst="rect">
            <a:avLst/>
          </a:prstGeom>
          <a:solidFill>
            <a:srgbClr val="CA8A04">
              <a:alpha val="20000"/>
            </a:srgbClr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726680" y="298094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A8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2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749808" y="4069080"/>
            <a:ext cx="0" cy="228600"/>
          </a:xfrm>
          <a:prstGeom prst="line">
            <a:avLst/>
          </a:prstGeom>
          <a:noFill/>
          <a:ln w="12700">
            <a:solidFill>
              <a:srgbClr val="334155"/>
            </a:solidFill>
            <a:prstDash val="dash"/>
          </a:ln>
        </p:spPr>
      </p:sp>
      <p:sp>
        <p:nvSpPr>
          <p:cNvPr id="38" name="Shape 36"/>
          <p:cNvSpPr/>
          <p:nvPr/>
        </p:nvSpPr>
        <p:spPr>
          <a:xfrm>
            <a:off x="548640" y="3630168"/>
            <a:ext cx="402336" cy="402336"/>
          </a:xfrm>
          <a:prstGeom prst="ellipse">
            <a:avLst/>
          </a:prstGeom>
          <a:solidFill>
            <a:srgbClr val="65A30D"/>
          </a:solidFill>
          <a:ln w="12700">
            <a:solidFill>
              <a:srgbClr val="65A30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8640" y="36301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097280" y="36576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Migração completa — customers, cards, requests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583680" y="3648456"/>
            <a:ext cx="100584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83680" y="364845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7726680" y="3648456"/>
            <a:ext cx="1097280" cy="256032"/>
          </a:xfrm>
          <a:prstGeom prst="rect">
            <a:avLst/>
          </a:prstGeom>
          <a:solidFill>
            <a:srgbClr val="65A30D">
              <a:alpha val="20000"/>
            </a:srgbClr>
          </a:solidFill>
          <a:ln w="12700">
            <a:solidFill>
              <a:srgbClr val="65A30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726680" y="364845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5A3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3–4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548640" y="4297680"/>
            <a:ext cx="402336" cy="40233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48640" y="42976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1097280" y="432511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finais e rollout para todos os usuários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583680" y="4315968"/>
            <a:ext cx="1005840" cy="25603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583680" y="431596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 + Usuários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7726680" y="4315968"/>
            <a:ext cx="1097280" cy="256032"/>
          </a:xfrm>
          <a:prstGeom prst="rect">
            <a:avLst/>
          </a:prstGeom>
          <a:solidFill>
            <a:srgbClr val="16A34A">
              <a:alpha val="20000"/>
            </a:srgbClr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726680" y="431596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5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50292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KAMI CO.  |  Tecnologia da Informação  |  Confidencial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Migração Firebase — KAMI MKT</dc:title>
  <dc:subject>PptxGenJS Presentation</dc:subject>
  <dc:creator>PptxGenJS</dc:creator>
  <cp:lastModifiedBy>PptxGenJS</cp:lastModifiedBy>
  <cp:revision>1</cp:revision>
  <dcterms:created xsi:type="dcterms:W3CDTF">2026-06-22T14:34:31Z</dcterms:created>
  <dcterms:modified xsi:type="dcterms:W3CDTF">2026-06-22T14:34:31Z</dcterms:modified>
</cp:coreProperties>
</file>